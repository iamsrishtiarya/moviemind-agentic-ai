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9.png"/><Relationship Id="rId5" Type="http://schemas.openxmlformats.org/officeDocument/2006/relationships/image" Target="../media/image21.png"/><Relationship Id="rId6" Type="http://schemas.openxmlformats.org/officeDocument/2006/relationships/image" Target="../media/image18.png"/><Relationship Id="rId7" Type="http://schemas.openxmlformats.org/officeDocument/2006/relationships/image" Target="../media/image3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6.png"/><Relationship Id="rId8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Relationship Id="rId6" Type="http://schemas.openxmlformats.org/officeDocument/2006/relationships/image" Target="../media/image10.png"/><Relationship Id="rId7" Type="http://schemas.openxmlformats.org/officeDocument/2006/relationships/image" Target="../media/image3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3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F3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252B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1463040" y="4572000"/>
            <a:ext cx="3840480" cy="3840480"/>
          </a:xfrm>
          <a:prstGeom prst="ellipse">
            <a:avLst/>
          </a:prstGeom>
          <a:solidFill>
            <a:srgbClr val="252B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822960" y="10515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FINAL PROJECT SERIES </a:t>
            </a:r>
            <a:r>
              <a:rPr b="1" i="0" lang="en-US" sz="14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SESSION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77240" y="1463040"/>
            <a:ext cx="10515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Agentic AI with Tools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777240" y="233172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45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C145"/>
                </a:solidFill>
                <a:latin typeface="Cambria"/>
                <a:ea typeface="Cambria"/>
                <a:cs typeface="Cambria"/>
                <a:sym typeface="Cambria"/>
              </a:rPr>
              <a:t>using LangChain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822960" y="342900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AE0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C7CAE0"/>
                </a:solidFill>
                <a:latin typeface="Calibri"/>
                <a:ea typeface="Calibri"/>
                <a:cs typeface="Calibri"/>
                <a:sym typeface="Calibri"/>
              </a:rPr>
              <a:t>From Generative AI to Agentic AI — understand the evolution, then build a real tool-using agent from scratch.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822960" y="4343400"/>
            <a:ext cx="6035040" cy="1371600"/>
          </a:xfrm>
          <a:prstGeom prst="roundRect">
            <a:avLst>
              <a:gd fmla="val 8000" name="adj"/>
            </a:avLst>
          </a:prstGeom>
          <a:solidFill>
            <a:srgbClr val="252B4D"/>
          </a:solidFill>
          <a:ln cap="flat" cmpd="sng" w="12700">
            <a:solidFill>
              <a:srgbClr val="3A3F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1051560" y="4590288"/>
            <a:ext cx="868680" cy="8686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ilm_white.png" id="24" name="Google Shape;2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5802" y="4694530"/>
            <a:ext cx="660197" cy="660197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/>
          <p:nvPr/>
        </p:nvSpPr>
        <p:spPr>
          <a:xfrm>
            <a:off x="2057400" y="4498848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4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C145"/>
                </a:solidFill>
                <a:latin typeface="Calibri"/>
                <a:ea typeface="Calibri"/>
                <a:cs typeface="Calibri"/>
                <a:sym typeface="Calibri"/>
              </a:rPr>
              <a:t>Featured Project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2057400" y="4773168"/>
            <a:ext cx="4709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MovieMind — Agentic AI Movie Decision Assistant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822960" y="598932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A0C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BA0C4"/>
                </a:solidFill>
                <a:latin typeface="Calibri"/>
                <a:ea typeface="Calibri"/>
                <a:cs typeface="Calibri"/>
                <a:sym typeface="Calibri"/>
              </a:rPr>
              <a:t>Generative AI  •  LangChain Agents  •  Tool Calling  •  Groq API  •  Streamlit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SESSION ROADMAP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What We'll Cover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48650" y="1508746"/>
            <a:ext cx="11064300" cy="1075200"/>
          </a:xfrm>
          <a:prstGeom prst="roundRect">
            <a:avLst>
              <a:gd fmla="val 11628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777250" y="1658791"/>
            <a:ext cx="567000" cy="775200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route_white.png" id="37" name="Google Shape;3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281" y="1751818"/>
            <a:ext cx="430865" cy="589174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/>
          <p:nvPr/>
        </p:nvSpPr>
        <p:spPr>
          <a:xfrm>
            <a:off x="1600209" y="1608776"/>
            <a:ext cx="6675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The Evolution of AI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600209" y="2083916"/>
            <a:ext cx="68580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2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7288"/>
                </a:solidFill>
                <a:latin typeface="Calibri"/>
                <a:ea typeface="Calibri"/>
                <a:cs typeface="Calibri"/>
                <a:sym typeface="Calibri"/>
              </a:rPr>
              <a:t>Gen AI → Fine-tuning → RAG → Agents → Agentic AI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48650" y="2784124"/>
            <a:ext cx="11064300" cy="1075200"/>
          </a:xfrm>
          <a:prstGeom prst="roundRect">
            <a:avLst>
              <a:gd fmla="val 11628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777250" y="2934168"/>
            <a:ext cx="567000" cy="775200"/>
          </a:xfrm>
          <a:prstGeom prst="ellipse">
            <a:avLst/>
          </a:prstGeom>
          <a:solidFill>
            <a:srgbClr val="3FA7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link_white.png" id="42" name="Google Shape;4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5281" y="3027195"/>
            <a:ext cx="430865" cy="589174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4"/>
          <p:cNvSpPr/>
          <p:nvPr/>
        </p:nvSpPr>
        <p:spPr>
          <a:xfrm>
            <a:off x="1600209" y="2884153"/>
            <a:ext cx="6675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Meet LangChain &amp; Agents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600209" y="3359294"/>
            <a:ext cx="68580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2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7288"/>
                </a:solidFill>
                <a:latin typeface="Calibri"/>
                <a:ea typeface="Calibri"/>
                <a:cs typeface="Calibri"/>
                <a:sym typeface="Calibri"/>
              </a:rPr>
              <a:t>How agents think, decide &amp; call tools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548650" y="4059501"/>
            <a:ext cx="11064300" cy="1075200"/>
          </a:xfrm>
          <a:prstGeom prst="roundRect">
            <a:avLst>
              <a:gd fmla="val 11628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777250" y="4209545"/>
            <a:ext cx="567000" cy="775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ilm_white.png" id="47" name="Google Shape;4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5281" y="4302572"/>
            <a:ext cx="430865" cy="589174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4"/>
          <p:cNvSpPr/>
          <p:nvPr/>
        </p:nvSpPr>
        <p:spPr>
          <a:xfrm>
            <a:off x="1600209" y="4159531"/>
            <a:ext cx="6675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Project Walkthrough: MovieMind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600209" y="4634671"/>
            <a:ext cx="68580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2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7288"/>
                </a:solidFill>
                <a:latin typeface="Calibri"/>
                <a:ea typeface="Calibri"/>
                <a:cs typeface="Calibri"/>
                <a:sym typeface="Calibri"/>
              </a:rPr>
              <a:t>Problem statement, architecture &amp; flow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548650" y="5334878"/>
            <a:ext cx="11064300" cy="1075200"/>
          </a:xfrm>
          <a:prstGeom prst="roundRect">
            <a:avLst>
              <a:gd fmla="val 11628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777250" y="5484923"/>
            <a:ext cx="567000" cy="775200"/>
          </a:xfrm>
          <a:prstGeom prst="ellipse">
            <a:avLst/>
          </a:prstGeom>
          <a:solidFill>
            <a:srgbClr val="FFC1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ode_white.png" id="52" name="Google Shape;52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5281" y="5577950"/>
            <a:ext cx="430865" cy="589174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4"/>
          <p:cNvSpPr/>
          <p:nvPr/>
        </p:nvSpPr>
        <p:spPr>
          <a:xfrm>
            <a:off x="1600209" y="5434908"/>
            <a:ext cx="6675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Hands-on Build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1600209" y="5910048"/>
            <a:ext cx="68580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2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7288"/>
                </a:solidFill>
                <a:latin typeface="Calibri"/>
                <a:ea typeface="Calibri"/>
                <a:cs typeface="Calibri"/>
                <a:sym typeface="Calibri"/>
              </a:rPr>
              <a:t>Wire up the LangChain agent + OMDb tool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2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7288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F3B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/>
          <p:nvPr/>
        </p:nvSpPr>
        <p:spPr>
          <a:xfrm>
            <a:off x="8961120" y="2377440"/>
            <a:ext cx="5486400" cy="5486400"/>
          </a:xfrm>
          <a:prstGeom prst="ellipse">
            <a:avLst/>
          </a:prstGeom>
          <a:solidFill>
            <a:srgbClr val="252B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822960" y="22860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PART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777240" y="2697480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Evolution of AI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822960" y="370332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AE0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C7CAE0"/>
                </a:solidFill>
                <a:latin typeface="Calibri"/>
                <a:ea typeface="Calibri"/>
                <a:cs typeface="Calibri"/>
                <a:sym typeface="Calibri"/>
              </a:rPr>
              <a:t>How we got from text generators to autonomous agents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THE BIG PICTURE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Five Stages of AI Maturity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" name="Google Shape;72;p6"/>
          <p:cNvCxnSpPr/>
          <p:nvPr/>
        </p:nvCxnSpPr>
        <p:spPr>
          <a:xfrm>
            <a:off x="1348740" y="3268980"/>
            <a:ext cx="8778240" cy="0"/>
          </a:xfrm>
          <a:prstGeom prst="straightConnector1">
            <a:avLst/>
          </a:prstGeom>
          <a:noFill/>
          <a:ln cap="flat" cmpd="sng" w="38100">
            <a:solidFill>
              <a:srgbClr val="D8DA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" name="Google Shape;73;p6"/>
          <p:cNvSpPr/>
          <p:nvPr/>
        </p:nvSpPr>
        <p:spPr>
          <a:xfrm>
            <a:off x="822960" y="2743200"/>
            <a:ext cx="1051560" cy="1051560"/>
          </a:xfrm>
          <a:prstGeom prst="ellipse">
            <a:avLst/>
          </a:prstGeom>
          <a:solidFill>
            <a:srgbClr val="1B1F3B"/>
          </a:solidFill>
          <a:ln cap="flat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brain_white.png" id="74" name="Google Shape;7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0178" y="2890418"/>
            <a:ext cx="757123" cy="757123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6"/>
          <p:cNvSpPr/>
          <p:nvPr/>
        </p:nvSpPr>
        <p:spPr>
          <a:xfrm>
            <a:off x="1545336" y="2615184"/>
            <a:ext cx="384048" cy="384048"/>
          </a:xfrm>
          <a:prstGeom prst="ellipse">
            <a:avLst/>
          </a:prstGeom>
          <a:solidFill>
            <a:srgbClr val="1B1F3B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1545336" y="261518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320040" y="3959352"/>
            <a:ext cx="2057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Generative AI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3017520" y="2743200"/>
            <a:ext cx="1051560" cy="1051560"/>
          </a:xfrm>
          <a:prstGeom prst="ellipse">
            <a:avLst/>
          </a:prstGeom>
          <a:solidFill>
            <a:srgbClr val="3FA7A0"/>
          </a:solidFill>
          <a:ln cap="flat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liders_white.png" id="79" name="Google Shape;7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64738" y="2890418"/>
            <a:ext cx="757123" cy="757123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/>
        </p:nvSpPr>
        <p:spPr>
          <a:xfrm>
            <a:off x="3739896" y="2615184"/>
            <a:ext cx="384048" cy="384048"/>
          </a:xfrm>
          <a:prstGeom prst="ellipse">
            <a:avLst/>
          </a:prstGeom>
          <a:solidFill>
            <a:srgbClr val="1B1F3B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3739896" y="261518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2514600" y="3959352"/>
            <a:ext cx="2057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Fine-tuning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5212080" y="2743200"/>
            <a:ext cx="1051560" cy="1051560"/>
          </a:xfrm>
          <a:prstGeom prst="ellipse">
            <a:avLst/>
          </a:prstGeom>
          <a:solidFill>
            <a:srgbClr val="FFC145"/>
          </a:solidFill>
          <a:ln cap="flat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database_white.png" id="84" name="Google Shape;8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59298" y="2890418"/>
            <a:ext cx="757123" cy="75712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6"/>
          <p:cNvSpPr/>
          <p:nvPr/>
        </p:nvSpPr>
        <p:spPr>
          <a:xfrm>
            <a:off x="5934456" y="2615184"/>
            <a:ext cx="384048" cy="384048"/>
          </a:xfrm>
          <a:prstGeom prst="ellipse">
            <a:avLst/>
          </a:prstGeom>
          <a:solidFill>
            <a:srgbClr val="1B1F3B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5934456" y="261518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4709160" y="3959352"/>
            <a:ext cx="2057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RAG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7406640" y="2743200"/>
            <a:ext cx="1051560" cy="1051560"/>
          </a:xfrm>
          <a:prstGeom prst="ellipse">
            <a:avLst/>
          </a:prstGeom>
          <a:solidFill>
            <a:srgbClr val="FF6B35"/>
          </a:solidFill>
          <a:ln cap="flat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ogs_white.png" id="89" name="Google Shape;89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53858" y="2890418"/>
            <a:ext cx="757123" cy="75712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6"/>
          <p:cNvSpPr/>
          <p:nvPr/>
        </p:nvSpPr>
        <p:spPr>
          <a:xfrm>
            <a:off x="8129016" y="2615184"/>
            <a:ext cx="384048" cy="384048"/>
          </a:xfrm>
          <a:prstGeom prst="ellipse">
            <a:avLst/>
          </a:prstGeom>
          <a:solidFill>
            <a:srgbClr val="1B1F3B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8129016" y="261518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6903720" y="3959352"/>
            <a:ext cx="2057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AI Agents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9601200" y="2743200"/>
            <a:ext cx="1051560" cy="1051560"/>
          </a:xfrm>
          <a:prstGeom prst="ellipse">
            <a:avLst/>
          </a:prstGeom>
          <a:solidFill>
            <a:srgbClr val="8E44AD"/>
          </a:solidFill>
          <a:ln cap="flat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magic_white.png" id="94" name="Google Shape;94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48418" y="2890418"/>
            <a:ext cx="757123" cy="757123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6"/>
          <p:cNvSpPr/>
          <p:nvPr/>
        </p:nvSpPr>
        <p:spPr>
          <a:xfrm>
            <a:off x="10323576" y="2615184"/>
            <a:ext cx="384048" cy="384048"/>
          </a:xfrm>
          <a:prstGeom prst="ellipse">
            <a:avLst/>
          </a:prstGeom>
          <a:solidFill>
            <a:srgbClr val="1B1F3B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10323576" y="261518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9098280" y="3959352"/>
            <a:ext cx="2057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Agentic AI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1005840" y="4892040"/>
            <a:ext cx="9966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288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E7288"/>
                </a:solidFill>
                <a:latin typeface="Calibri"/>
                <a:ea typeface="Calibri"/>
                <a:cs typeface="Calibri"/>
                <a:sym typeface="Calibri"/>
              </a:rPr>
              <a:t>Each stage builds on the last — models learn to generate, then specialize, then reference live knowledge, then take action, and finally reason &amp; plan autonomously.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320040" y="5669280"/>
            <a:ext cx="2057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28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7288"/>
                </a:solidFill>
                <a:latin typeface="Calibri"/>
                <a:ea typeface="Calibri"/>
                <a:cs typeface="Calibri"/>
                <a:sym typeface="Calibri"/>
              </a:rPr>
              <a:t>Creates new content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2514600" y="5669280"/>
            <a:ext cx="2057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28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7288"/>
                </a:solidFill>
                <a:latin typeface="Calibri"/>
                <a:ea typeface="Calibri"/>
                <a:cs typeface="Calibri"/>
                <a:sym typeface="Calibri"/>
              </a:rPr>
              <a:t>Specializes on your data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4709160" y="5669280"/>
            <a:ext cx="2057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28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7288"/>
                </a:solidFill>
                <a:latin typeface="Calibri"/>
                <a:ea typeface="Calibri"/>
                <a:cs typeface="Calibri"/>
                <a:sym typeface="Calibri"/>
              </a:rPr>
              <a:t>Looks things up live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6903720" y="5669280"/>
            <a:ext cx="2057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28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7288"/>
                </a:solidFill>
                <a:latin typeface="Calibri"/>
                <a:ea typeface="Calibri"/>
                <a:cs typeface="Calibri"/>
                <a:sym typeface="Calibri"/>
              </a:rPr>
              <a:t>Takes actions with tools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9098280" y="5669280"/>
            <a:ext cx="2057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28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7288"/>
                </a:solidFill>
                <a:latin typeface="Calibri"/>
                <a:ea typeface="Calibri"/>
                <a:cs typeface="Calibri"/>
                <a:sym typeface="Calibri"/>
              </a:rPr>
              <a:t>Plans &amp; decides autonomously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2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7288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-1188720" y="5120640"/>
            <a:ext cx="3657600" cy="3657600"/>
          </a:xfrm>
          <a:prstGeom prst="ellipse">
            <a:avLst/>
          </a:prstGeom>
          <a:solidFill>
            <a:srgbClr val="1B1F3B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914400" y="914400"/>
            <a:ext cx="1737360" cy="1737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brain_navy.png" id="113" name="Google Shape;11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1872" y="1261872"/>
            <a:ext cx="1042416" cy="1042416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7"/>
          <p:cNvSpPr/>
          <p:nvPr/>
        </p:nvSpPr>
        <p:spPr>
          <a:xfrm>
            <a:off x="822960" y="288036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822960" y="3200400"/>
            <a:ext cx="30175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Generative AI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822960" y="4434840"/>
            <a:ext cx="2926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foundation everything else is built 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4434840" y="50292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In Simple Terms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4434840" y="822960"/>
            <a:ext cx="6949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AI that creates new content instead of just analyzing it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4434840" y="1828800"/>
            <a:ext cx="146304" cy="146304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4754880" y="1691640"/>
            <a:ext cx="6583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Trained on massive amounts of text, code &amp; images to learn patterns of language.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4434840" y="2487168"/>
            <a:ext cx="146304" cy="146304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4754880" y="2350008"/>
            <a:ext cx="6583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Given a prompt, it generates new text, code, or images — not a lookup, a prediction.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4434840" y="3145536"/>
            <a:ext cx="146304" cy="146304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4754880" y="3008376"/>
            <a:ext cx="6583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Powered by Large Language Models (LLMs) like GPT, Llama, and GPT-OSS.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4434840" y="3895344"/>
            <a:ext cx="6903720" cy="1417320"/>
          </a:xfrm>
          <a:prstGeom prst="roundRect">
            <a:avLst>
              <a:gd fmla="val 6452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4663440" y="4032504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4663440" y="4306824"/>
            <a:ext cx="6492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288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6E7288"/>
                </a:solidFill>
                <a:latin typeface="Calibri"/>
                <a:ea typeface="Calibri"/>
                <a:cs typeface="Calibri"/>
                <a:sym typeface="Calibri"/>
              </a:rPr>
              <a:t>Ask an LLM “Write a movie recommendation for a sci-fi fan” and it drafts a fresh, human-like answer from what it learned during training.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2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7288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3FA7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-1188720" y="5120640"/>
            <a:ext cx="3657600" cy="3657600"/>
          </a:xfrm>
          <a:prstGeom prst="ellipse">
            <a:avLst/>
          </a:prstGeom>
          <a:solidFill>
            <a:srgbClr val="3FA7A0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914400" y="914400"/>
            <a:ext cx="1737360" cy="1737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liders_navy.png" id="137" name="Google Shape;13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1872" y="1261872"/>
            <a:ext cx="1042416" cy="1042416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8"/>
          <p:cNvSpPr/>
          <p:nvPr/>
        </p:nvSpPr>
        <p:spPr>
          <a:xfrm>
            <a:off x="822960" y="288036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822960" y="3200400"/>
            <a:ext cx="30175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Fine-tuning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822960" y="4434840"/>
            <a:ext cx="2926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Same brain, extra training on your data.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4434840" y="50292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A7A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FA7A0"/>
                </a:solidFill>
                <a:latin typeface="Calibri"/>
                <a:ea typeface="Calibri"/>
                <a:cs typeface="Calibri"/>
                <a:sym typeface="Calibri"/>
              </a:rPr>
              <a:t>In Simple Terms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4434840" y="822960"/>
            <a:ext cx="6949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Teaching a general model to specialize in your task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4434840" y="1828800"/>
            <a:ext cx="146304" cy="146304"/>
          </a:xfrm>
          <a:prstGeom prst="ellipse">
            <a:avLst/>
          </a:prstGeom>
          <a:solidFill>
            <a:srgbClr val="3FA7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4754880" y="1691640"/>
            <a:ext cx="6583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Start with a pre-trained LLM and continue training it on a smaller, focused dataset.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4434840" y="2487168"/>
            <a:ext cx="146304" cy="146304"/>
          </a:xfrm>
          <a:prstGeom prst="ellipse">
            <a:avLst/>
          </a:prstGeom>
          <a:solidFill>
            <a:srgbClr val="3FA7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4754880" y="2350008"/>
            <a:ext cx="6583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The model adjusts its internal weights to get better at a specific domain or style.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4434840" y="3145536"/>
            <a:ext cx="146304" cy="146304"/>
          </a:xfrm>
          <a:prstGeom prst="ellipse">
            <a:avLst/>
          </a:prstGeom>
          <a:solidFill>
            <a:srgbClr val="3FA7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4754880" y="3008376"/>
            <a:ext cx="6583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Great when you need consistent tone, format, or domain expertise the base model lacks.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4434840" y="3895344"/>
            <a:ext cx="6903720" cy="1417320"/>
          </a:xfrm>
          <a:prstGeom prst="roundRect">
            <a:avLst>
              <a:gd fmla="val 6452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4663440" y="4032504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A7A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FA7A0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4663440" y="4306824"/>
            <a:ext cx="6492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288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6E7288"/>
                </a:solidFill>
                <a:latin typeface="Calibri"/>
                <a:ea typeface="Calibri"/>
                <a:cs typeface="Calibri"/>
                <a:sym typeface="Calibri"/>
              </a:rPr>
              <a:t>Fine-tuning an LLM on thousands of movie reviews so it consistently replies in a critic's voice with genre-aware recommendations.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2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7288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FFC1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-1188720" y="5120640"/>
            <a:ext cx="3657600" cy="3657600"/>
          </a:xfrm>
          <a:prstGeom prst="ellipse">
            <a:avLst/>
          </a:prstGeom>
          <a:solidFill>
            <a:srgbClr val="FFC145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914400" y="914400"/>
            <a:ext cx="1737360" cy="1737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database_navy.png" id="161" name="Google Shape;16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1872" y="1261872"/>
            <a:ext cx="1042416" cy="1042416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9"/>
          <p:cNvSpPr/>
          <p:nvPr/>
        </p:nvSpPr>
        <p:spPr>
          <a:xfrm>
            <a:off x="822960" y="288036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822960" y="3200400"/>
            <a:ext cx="30175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RAG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822960" y="4434840"/>
            <a:ext cx="2926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model reads before it answers.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4434840" y="50292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4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C145"/>
                </a:solidFill>
                <a:latin typeface="Calibri"/>
                <a:ea typeface="Calibri"/>
                <a:cs typeface="Calibri"/>
                <a:sym typeface="Calibri"/>
              </a:rPr>
              <a:t>In Simple Terms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4434840" y="822960"/>
            <a:ext cx="6949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Retrieval-Augmented Generation: giving the model live knowledge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4434840" y="1828800"/>
            <a:ext cx="146304" cy="146304"/>
          </a:xfrm>
          <a:prstGeom prst="ellipse">
            <a:avLst/>
          </a:prstGeom>
          <a:solidFill>
            <a:srgbClr val="FFC1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4754880" y="1691640"/>
            <a:ext cx="6583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LLMs only know what they were trained on — RAG lets them fetch fresh, external info first.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4434840" y="2487168"/>
            <a:ext cx="146304" cy="146304"/>
          </a:xfrm>
          <a:prstGeom prst="ellipse">
            <a:avLst/>
          </a:prstGeom>
          <a:solidFill>
            <a:srgbClr val="FFC1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4754880" y="2350008"/>
            <a:ext cx="6583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Relevant documents/data are retrieved from a knowledge base and added to the prompt.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4434840" y="3145536"/>
            <a:ext cx="146304" cy="146304"/>
          </a:xfrm>
          <a:prstGeom prst="ellipse">
            <a:avLst/>
          </a:prstGeom>
          <a:solidFill>
            <a:srgbClr val="FFC1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4754880" y="3008376"/>
            <a:ext cx="6583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The model then generates an answer grounded in that retrieved, up-to-date context.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4434840" y="3895344"/>
            <a:ext cx="6903720" cy="1417320"/>
          </a:xfrm>
          <a:prstGeom prst="roundRect">
            <a:avLst>
              <a:gd fmla="val 6452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4663440" y="4032504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4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C145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4663440" y="4306824"/>
            <a:ext cx="6492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288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6E7288"/>
                </a:solidFill>
                <a:latin typeface="Calibri"/>
                <a:ea typeface="Calibri"/>
                <a:cs typeface="Calibri"/>
                <a:sym typeface="Calibri"/>
              </a:rPr>
              <a:t>Before answering “What's the rating of the new Batman movie?”, the system retrieves current data instead of relying on stale training knowledge.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2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7288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-1188720" y="5120640"/>
            <a:ext cx="3657600" cy="3657600"/>
          </a:xfrm>
          <a:prstGeom prst="ellipse">
            <a:avLst/>
          </a:prstGeom>
          <a:solidFill>
            <a:srgbClr val="FF6B35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"/>
          <p:cNvSpPr/>
          <p:nvPr/>
        </p:nvSpPr>
        <p:spPr>
          <a:xfrm>
            <a:off x="914400" y="914400"/>
            <a:ext cx="1737360" cy="1737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ogs_navy.png" id="185" name="Google Shape;18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1872" y="1261872"/>
            <a:ext cx="1042416" cy="1042416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0"/>
          <p:cNvSpPr/>
          <p:nvPr/>
        </p:nvSpPr>
        <p:spPr>
          <a:xfrm>
            <a:off x="822960" y="288036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 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822960" y="3200400"/>
            <a:ext cx="30175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AI Agents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822960" y="4434840"/>
            <a:ext cx="2926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model gets hands, not just a voice.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4434840" y="50292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In Simple Terms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4434840" y="822960"/>
            <a:ext cx="6949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AI that can take actions, not just generate text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4434840" y="1828800"/>
            <a:ext cx="146304" cy="146304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"/>
          <p:cNvSpPr/>
          <p:nvPr/>
        </p:nvSpPr>
        <p:spPr>
          <a:xfrm>
            <a:off x="4754880" y="1691640"/>
            <a:ext cx="6583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An agent pairs an LLM with a set of tools (functions, APIs) it is allowed to call.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4434840" y="2487168"/>
            <a:ext cx="146304" cy="146304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"/>
          <p:cNvSpPr/>
          <p:nvPr/>
        </p:nvSpPr>
        <p:spPr>
          <a:xfrm>
            <a:off x="4754880" y="2350008"/>
            <a:ext cx="6583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The LLM decides which tool to use and with what inputs, based on the user's request.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4434840" y="3145536"/>
            <a:ext cx="146304" cy="146304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4754880" y="3008376"/>
            <a:ext cx="6583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Tools execute real actions — API calls, calculations, database queries — and return results.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4434840" y="3895344"/>
            <a:ext cx="6903720" cy="1417320"/>
          </a:xfrm>
          <a:prstGeom prst="roundRect">
            <a:avLst>
              <a:gd fmla="val 6452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4663440" y="4032504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4663440" y="4306824"/>
            <a:ext cx="6492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288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6E7288"/>
                </a:solidFill>
                <a:latin typeface="Calibri"/>
                <a:ea typeface="Calibri"/>
                <a:cs typeface="Calibri"/>
                <a:sym typeface="Calibri"/>
              </a:rPr>
              <a:t>An agent recognizes it needs live movie data, calls the OMDb API tool itself, and uses the returned JSON to answer the question.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2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7288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"/>
          <p:cNvSpPr/>
          <p:nvPr/>
        </p:nvSpPr>
        <p:spPr>
          <a:xfrm>
            <a:off x="-1188720" y="5120640"/>
            <a:ext cx="3657600" cy="3657600"/>
          </a:xfrm>
          <a:prstGeom prst="ellipse">
            <a:avLst/>
          </a:prstGeom>
          <a:solidFill>
            <a:srgbClr val="8E44AD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"/>
          <p:cNvSpPr/>
          <p:nvPr/>
        </p:nvSpPr>
        <p:spPr>
          <a:xfrm>
            <a:off x="914400" y="914400"/>
            <a:ext cx="1737360" cy="1737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magic_navy.png" id="209" name="Google Shape;20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1872" y="1261872"/>
            <a:ext cx="1042416" cy="1042416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1"/>
          <p:cNvSpPr/>
          <p:nvPr/>
        </p:nvSpPr>
        <p:spPr>
          <a:xfrm>
            <a:off x="822960" y="288036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 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822960" y="3200400"/>
            <a:ext cx="30175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Agentic AI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822960" y="4434840"/>
            <a:ext cx="2926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one tool call to a full plan.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4434840" y="50292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44A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In Simple Terms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4434840" y="822960"/>
            <a:ext cx="6949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Multiple reasoning steps chained into autonomous workflows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4434840" y="1828800"/>
            <a:ext cx="146304" cy="146304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"/>
          <p:cNvSpPr/>
          <p:nvPr/>
        </p:nvSpPr>
        <p:spPr>
          <a:xfrm>
            <a:off x="4754880" y="1691640"/>
            <a:ext cx="6583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Goes beyond a single tool call — the system plans, sequences, and adapts across multiple steps.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4434840" y="2487168"/>
            <a:ext cx="146304" cy="146304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"/>
          <p:cNvSpPr/>
          <p:nvPr/>
        </p:nvSpPr>
        <p:spPr>
          <a:xfrm>
            <a:off x="4754880" y="2350008"/>
            <a:ext cx="6583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It can reason about intent, choose among several tools, retry, and self-correct along the way.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4434840" y="3145536"/>
            <a:ext cx="146304" cy="146304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"/>
          <p:cNvSpPr/>
          <p:nvPr/>
        </p:nvSpPr>
        <p:spPr>
          <a:xfrm>
            <a:off x="4754880" y="3008376"/>
            <a:ext cx="6583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This is the level MovieMind operates at: understand → decide → act → interpret → respond.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4434840" y="3895344"/>
            <a:ext cx="6903720" cy="1417320"/>
          </a:xfrm>
          <a:prstGeom prst="roundRect">
            <a:avLst>
              <a:gd fmla="val 6452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"/>
          <p:cNvSpPr/>
          <p:nvPr/>
        </p:nvSpPr>
        <p:spPr>
          <a:xfrm>
            <a:off x="4663440" y="4032504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44AD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4663440" y="4306824"/>
            <a:ext cx="6492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288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6E7288"/>
                </a:solidFill>
                <a:latin typeface="Calibri"/>
                <a:ea typeface="Calibri"/>
                <a:cs typeface="Calibri"/>
                <a:sym typeface="Calibri"/>
              </a:rPr>
              <a:t>Ask a vague question like “Something fun for family movie night” — the agent infers intent, picks the right tool(s), and composes a full answer.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2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7288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QUICK RECAP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The Journey at a Glance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548640" y="1463040"/>
            <a:ext cx="11064240" cy="502920"/>
          </a:xfrm>
          <a:prstGeom prst="roundRect">
            <a:avLst>
              <a:gd fmla="val 10909" name="adj"/>
            </a:avLst>
          </a:prstGeom>
          <a:solidFill>
            <a:srgbClr val="1B1F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2"/>
          <p:cNvSpPr/>
          <p:nvPr/>
        </p:nvSpPr>
        <p:spPr>
          <a:xfrm>
            <a:off x="777240" y="146304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3291840" y="1463040"/>
            <a:ext cx="4297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IT DOES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7772400" y="146304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LIMITATION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548640" y="1965960"/>
            <a:ext cx="11064240" cy="841248"/>
          </a:xfrm>
          <a:prstGeom prst="rect">
            <a:avLst/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2"/>
          <p:cNvSpPr/>
          <p:nvPr/>
        </p:nvSpPr>
        <p:spPr>
          <a:xfrm>
            <a:off x="777240" y="2304288"/>
            <a:ext cx="164592" cy="164592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2"/>
          <p:cNvSpPr/>
          <p:nvPr/>
        </p:nvSpPr>
        <p:spPr>
          <a:xfrm>
            <a:off x="1078992" y="1965960"/>
            <a:ext cx="20116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Generative AI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3291840" y="1965960"/>
            <a:ext cx="420624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Generates new content from a prompt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7772400" y="1965960"/>
            <a:ext cx="374904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288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6E7288"/>
                </a:solidFill>
                <a:latin typeface="Calibri"/>
                <a:ea typeface="Calibri"/>
                <a:cs typeface="Calibri"/>
                <a:sym typeface="Calibri"/>
              </a:rPr>
              <a:t>No memory of live or private data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548640" y="2807208"/>
            <a:ext cx="1106424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2"/>
          <p:cNvSpPr/>
          <p:nvPr/>
        </p:nvSpPr>
        <p:spPr>
          <a:xfrm>
            <a:off x="777240" y="3145536"/>
            <a:ext cx="164592" cy="164592"/>
          </a:xfrm>
          <a:prstGeom prst="ellipse">
            <a:avLst/>
          </a:prstGeom>
          <a:solidFill>
            <a:srgbClr val="3FA7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2"/>
          <p:cNvSpPr/>
          <p:nvPr/>
        </p:nvSpPr>
        <p:spPr>
          <a:xfrm>
            <a:off x="1078992" y="2807208"/>
            <a:ext cx="20116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Fine-tuning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3291840" y="2807208"/>
            <a:ext cx="420624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Specializes the model on custom data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7772400" y="2807208"/>
            <a:ext cx="374904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288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6E7288"/>
                </a:solidFill>
                <a:latin typeface="Calibri"/>
                <a:ea typeface="Calibri"/>
                <a:cs typeface="Calibri"/>
                <a:sym typeface="Calibri"/>
              </a:rPr>
              <a:t>Still can't act or fetch live info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548640" y="3648456"/>
            <a:ext cx="11064240" cy="841248"/>
          </a:xfrm>
          <a:prstGeom prst="rect">
            <a:avLst/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"/>
          <p:cNvSpPr/>
          <p:nvPr/>
        </p:nvSpPr>
        <p:spPr>
          <a:xfrm>
            <a:off x="777240" y="3986784"/>
            <a:ext cx="164592" cy="164592"/>
          </a:xfrm>
          <a:prstGeom prst="ellipse">
            <a:avLst/>
          </a:prstGeom>
          <a:solidFill>
            <a:srgbClr val="FFC1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2"/>
          <p:cNvSpPr/>
          <p:nvPr/>
        </p:nvSpPr>
        <p:spPr>
          <a:xfrm>
            <a:off x="1078992" y="3648456"/>
            <a:ext cx="20116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RAG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3291840" y="3648456"/>
            <a:ext cx="420624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Retrieves live info before answering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7772400" y="3648456"/>
            <a:ext cx="374904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288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6E7288"/>
                </a:solidFill>
                <a:latin typeface="Calibri"/>
                <a:ea typeface="Calibri"/>
                <a:cs typeface="Calibri"/>
                <a:sym typeface="Calibri"/>
              </a:rPr>
              <a:t>Still just answers — can't take action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548640" y="4489704"/>
            <a:ext cx="1106424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2"/>
          <p:cNvSpPr/>
          <p:nvPr/>
        </p:nvSpPr>
        <p:spPr>
          <a:xfrm>
            <a:off x="777240" y="4828032"/>
            <a:ext cx="164592" cy="164592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"/>
          <p:cNvSpPr/>
          <p:nvPr/>
        </p:nvSpPr>
        <p:spPr>
          <a:xfrm>
            <a:off x="1078992" y="4489704"/>
            <a:ext cx="20116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AI Agents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3291840" y="4489704"/>
            <a:ext cx="420624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Calls tools/APIs to take one action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7772400" y="4489704"/>
            <a:ext cx="374904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288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6E7288"/>
                </a:solidFill>
                <a:latin typeface="Calibri"/>
                <a:ea typeface="Calibri"/>
                <a:cs typeface="Calibri"/>
                <a:sym typeface="Calibri"/>
              </a:rPr>
              <a:t>Usually a single decide-and-act step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548640" y="5330952"/>
            <a:ext cx="11064240" cy="841248"/>
          </a:xfrm>
          <a:prstGeom prst="rect">
            <a:avLst/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2"/>
          <p:cNvSpPr/>
          <p:nvPr/>
        </p:nvSpPr>
        <p:spPr>
          <a:xfrm>
            <a:off x="777240" y="5669280"/>
            <a:ext cx="164592" cy="164592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2"/>
          <p:cNvSpPr/>
          <p:nvPr/>
        </p:nvSpPr>
        <p:spPr>
          <a:xfrm>
            <a:off x="1078992" y="5330952"/>
            <a:ext cx="20116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Agentic AI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3291840" y="5330952"/>
            <a:ext cx="420624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Plans &amp; chains multiple steps autonomously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7772400" y="5330952"/>
            <a:ext cx="374904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288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6E7288"/>
                </a:solidFill>
                <a:latin typeface="Calibri"/>
                <a:ea typeface="Calibri"/>
                <a:cs typeface="Calibri"/>
                <a:sym typeface="Calibri"/>
              </a:rPr>
              <a:t>Needs careful design &amp; guardrails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2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728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F3B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"/>
          <p:cNvSpPr/>
          <p:nvPr/>
        </p:nvSpPr>
        <p:spPr>
          <a:xfrm>
            <a:off x="8961120" y="2377440"/>
            <a:ext cx="5486400" cy="5486400"/>
          </a:xfrm>
          <a:prstGeom prst="ellipse">
            <a:avLst/>
          </a:prstGeom>
          <a:solidFill>
            <a:srgbClr val="252B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"/>
          <p:cNvSpPr/>
          <p:nvPr/>
        </p:nvSpPr>
        <p:spPr>
          <a:xfrm>
            <a:off x="822960" y="22860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A7A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3FA7A0"/>
                </a:solidFill>
                <a:latin typeface="Calibri"/>
                <a:ea typeface="Calibri"/>
                <a:cs typeface="Calibri"/>
                <a:sym typeface="Calibri"/>
              </a:rPr>
              <a:t>PART 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777240" y="2697480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Meet MovieMind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822960" y="370332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AE0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C7CAE0"/>
                </a:solidFill>
                <a:latin typeface="Calibri"/>
                <a:ea typeface="Calibri"/>
                <a:cs typeface="Calibri"/>
                <a:sym typeface="Calibri"/>
              </a:rPr>
              <a:t>An Agentic AI Movie Decision Assistant, built with LangChain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4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THE PROJECT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4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MovieMind — Agentic AI Movie Decision Assistant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4"/>
          <p:cNvSpPr/>
          <p:nvPr/>
        </p:nvSpPr>
        <p:spPr>
          <a:xfrm>
            <a:off x="548640" y="1463040"/>
            <a:ext cx="6492240" cy="4709160"/>
          </a:xfrm>
          <a:prstGeom prst="roundRect">
            <a:avLst>
              <a:gd fmla="val 2330" name="adj"/>
            </a:avLst>
          </a:prstGeom>
          <a:solidFill>
            <a:srgbClr val="1B1F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4"/>
          <p:cNvSpPr/>
          <p:nvPr/>
        </p:nvSpPr>
        <p:spPr>
          <a:xfrm>
            <a:off x="868680" y="1737360"/>
            <a:ext cx="548640" cy="5486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bulb_white.png" id="280" name="Google Shape;28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4517" y="1803197"/>
            <a:ext cx="416966" cy="416966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4"/>
          <p:cNvSpPr/>
          <p:nvPr/>
        </p:nvSpPr>
        <p:spPr>
          <a:xfrm>
            <a:off x="1554480" y="1810512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Problem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4"/>
          <p:cNvSpPr/>
          <p:nvPr/>
        </p:nvSpPr>
        <p:spPr>
          <a:xfrm>
            <a:off x="868680" y="2377440"/>
            <a:ext cx="5943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D9E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6D9EE"/>
                </a:solidFill>
                <a:latin typeface="Calibri"/>
                <a:ea typeface="Calibri"/>
                <a:cs typeface="Calibri"/>
                <a:sym typeface="Calibri"/>
              </a:rPr>
              <a:t>Deciding what movie to watch takes forever — scattered reviews, outdated info, and no single assistant that actually understands what you're in the mood for and can look things up for you.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4"/>
          <p:cNvSpPr/>
          <p:nvPr/>
        </p:nvSpPr>
        <p:spPr>
          <a:xfrm>
            <a:off x="868680" y="3429000"/>
            <a:ext cx="5943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D9E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6D9EE"/>
                </a:solidFill>
                <a:latin typeface="Calibri"/>
                <a:ea typeface="Calibri"/>
                <a:cs typeface="Calibri"/>
                <a:sym typeface="Calibri"/>
              </a:rPr>
              <a:t>MovieMind solves this with an agentic AI system: a conversational assistant that understands your question, decides when it needs live data, fetches it from a real movie database, and responds in natural language.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4"/>
          <p:cNvSpPr/>
          <p:nvPr/>
        </p:nvSpPr>
        <p:spPr>
          <a:xfrm>
            <a:off x="868680" y="4937760"/>
            <a:ext cx="5897880" cy="1005840"/>
          </a:xfrm>
          <a:prstGeom prst="roundRect">
            <a:avLst>
              <a:gd fmla="val 7273" name="adj"/>
            </a:avLst>
          </a:prstGeom>
          <a:solidFill>
            <a:srgbClr val="252B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4"/>
          <p:cNvSpPr/>
          <p:nvPr/>
        </p:nvSpPr>
        <p:spPr>
          <a:xfrm>
            <a:off x="1097280" y="50292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4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C145"/>
                </a:solidFill>
                <a:latin typeface="Calibri"/>
                <a:ea typeface="Calibri"/>
                <a:cs typeface="Calibri"/>
                <a:sym typeface="Calibri"/>
              </a:rPr>
              <a:t>Domain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4"/>
          <p:cNvSpPr/>
          <p:nvPr/>
        </p:nvSpPr>
        <p:spPr>
          <a:xfrm>
            <a:off x="1097280" y="5303520"/>
            <a:ext cx="5394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Agentic AI · Entertainment / Movies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4"/>
          <p:cNvSpPr/>
          <p:nvPr/>
        </p:nvSpPr>
        <p:spPr>
          <a:xfrm>
            <a:off x="7269480" y="1463040"/>
            <a:ext cx="4343400" cy="4709160"/>
          </a:xfrm>
          <a:prstGeom prst="roundRect">
            <a:avLst>
              <a:gd fmla="val 2526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4"/>
          <p:cNvSpPr/>
          <p:nvPr/>
        </p:nvSpPr>
        <p:spPr>
          <a:xfrm>
            <a:off x="7543800" y="16916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Skills You'll Take Away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4"/>
          <p:cNvSpPr/>
          <p:nvPr/>
        </p:nvSpPr>
        <p:spPr>
          <a:xfrm>
            <a:off x="7589520" y="2295144"/>
            <a:ext cx="128016" cy="12801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4"/>
          <p:cNvSpPr/>
          <p:nvPr/>
        </p:nvSpPr>
        <p:spPr>
          <a:xfrm>
            <a:off x="7845552" y="2167128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Generative AI &amp; LLMs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4"/>
          <p:cNvSpPr/>
          <p:nvPr/>
        </p:nvSpPr>
        <p:spPr>
          <a:xfrm>
            <a:off x="7589520" y="2724912"/>
            <a:ext cx="128016" cy="12801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4"/>
          <p:cNvSpPr/>
          <p:nvPr/>
        </p:nvSpPr>
        <p:spPr>
          <a:xfrm>
            <a:off x="7845552" y="2596896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Prompt Engineering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4"/>
          <p:cNvSpPr/>
          <p:nvPr/>
        </p:nvSpPr>
        <p:spPr>
          <a:xfrm>
            <a:off x="7589520" y="3154680"/>
            <a:ext cx="128016" cy="12801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4"/>
          <p:cNvSpPr/>
          <p:nvPr/>
        </p:nvSpPr>
        <p:spPr>
          <a:xfrm>
            <a:off x="7845552" y="3026664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LangChain &amp; AI Agents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4"/>
          <p:cNvSpPr/>
          <p:nvPr/>
        </p:nvSpPr>
        <p:spPr>
          <a:xfrm>
            <a:off x="7589520" y="3584448"/>
            <a:ext cx="128016" cy="12801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4"/>
          <p:cNvSpPr/>
          <p:nvPr/>
        </p:nvSpPr>
        <p:spPr>
          <a:xfrm>
            <a:off x="7845552" y="3456432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Tool Calling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4"/>
          <p:cNvSpPr/>
          <p:nvPr/>
        </p:nvSpPr>
        <p:spPr>
          <a:xfrm>
            <a:off x="7589520" y="4014216"/>
            <a:ext cx="128016" cy="12801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4"/>
          <p:cNvSpPr/>
          <p:nvPr/>
        </p:nvSpPr>
        <p:spPr>
          <a:xfrm>
            <a:off x="7845552" y="388620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Groq API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4"/>
          <p:cNvSpPr/>
          <p:nvPr/>
        </p:nvSpPr>
        <p:spPr>
          <a:xfrm>
            <a:off x="7589520" y="4443984"/>
            <a:ext cx="128016" cy="12801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4"/>
          <p:cNvSpPr/>
          <p:nvPr/>
        </p:nvSpPr>
        <p:spPr>
          <a:xfrm>
            <a:off x="7845552" y="4315968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REST API Integration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7589520" y="4873752"/>
            <a:ext cx="128016" cy="12801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4"/>
          <p:cNvSpPr/>
          <p:nvPr/>
        </p:nvSpPr>
        <p:spPr>
          <a:xfrm>
            <a:off x="7845552" y="4745736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Python &amp; Streamlit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4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2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7288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5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UNDER THE HOOD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5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The Tech Stack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5"/>
          <p:cNvSpPr/>
          <p:nvPr/>
        </p:nvSpPr>
        <p:spPr>
          <a:xfrm>
            <a:off x="548640" y="1508760"/>
            <a:ext cx="3611880" cy="1965960"/>
          </a:xfrm>
          <a:prstGeom prst="roundRect">
            <a:avLst>
              <a:gd fmla="val 4651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5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omments_white.png" id="313" name="Google Shape;3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9770" y="1859890"/>
            <a:ext cx="486461" cy="48646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5"/>
          <p:cNvSpPr/>
          <p:nvPr/>
        </p:nvSpPr>
        <p:spPr>
          <a:xfrm>
            <a:off x="822960" y="256032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Streamlit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5"/>
          <p:cNvSpPr/>
          <p:nvPr/>
        </p:nvSpPr>
        <p:spPr>
          <a:xfrm>
            <a:off x="822960" y="292608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28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E7288"/>
                </a:solidFill>
                <a:latin typeface="Calibri"/>
                <a:ea typeface="Calibri"/>
                <a:cs typeface="Calibri"/>
                <a:sym typeface="Calibri"/>
              </a:rPr>
              <a:t>Interactive Python web UI for chat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5"/>
          <p:cNvSpPr/>
          <p:nvPr/>
        </p:nvSpPr>
        <p:spPr>
          <a:xfrm>
            <a:off x="4297680" y="1508760"/>
            <a:ext cx="3611880" cy="1965960"/>
          </a:xfrm>
          <a:prstGeom prst="roundRect">
            <a:avLst>
              <a:gd fmla="val 4651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5"/>
          <p:cNvSpPr/>
          <p:nvPr/>
        </p:nvSpPr>
        <p:spPr>
          <a:xfrm>
            <a:off x="4572000" y="1783080"/>
            <a:ext cx="640080" cy="640080"/>
          </a:xfrm>
          <a:prstGeom prst="ellipse">
            <a:avLst/>
          </a:prstGeom>
          <a:solidFill>
            <a:srgbClr val="3FA7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link_white.png" id="318" name="Google Shape;31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8810" y="1859890"/>
            <a:ext cx="486461" cy="486461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5"/>
          <p:cNvSpPr/>
          <p:nvPr/>
        </p:nvSpPr>
        <p:spPr>
          <a:xfrm>
            <a:off x="4572000" y="256032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LangChain Agent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5"/>
          <p:cNvSpPr/>
          <p:nvPr/>
        </p:nvSpPr>
        <p:spPr>
          <a:xfrm>
            <a:off x="4572000" y="292608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28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E7288"/>
                </a:solidFill>
                <a:latin typeface="Calibri"/>
                <a:ea typeface="Calibri"/>
                <a:cs typeface="Calibri"/>
                <a:sym typeface="Calibri"/>
              </a:rPr>
              <a:t>Orchestrates reasoning &amp; tool use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5"/>
          <p:cNvSpPr/>
          <p:nvPr/>
        </p:nvSpPr>
        <p:spPr>
          <a:xfrm>
            <a:off x="8046720" y="1508760"/>
            <a:ext cx="3611880" cy="1965960"/>
          </a:xfrm>
          <a:prstGeom prst="roundRect">
            <a:avLst>
              <a:gd fmla="val 4651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5"/>
          <p:cNvSpPr/>
          <p:nvPr/>
        </p:nvSpPr>
        <p:spPr>
          <a:xfrm>
            <a:off x="8321040" y="1783080"/>
            <a:ext cx="640080" cy="6400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brain_white.png" id="323" name="Google Shape;32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97850" y="1859890"/>
            <a:ext cx="486461" cy="486461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5"/>
          <p:cNvSpPr/>
          <p:nvPr/>
        </p:nvSpPr>
        <p:spPr>
          <a:xfrm>
            <a:off x="8321040" y="256032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GPT-OSS-120B (Groq)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5"/>
          <p:cNvSpPr/>
          <p:nvPr/>
        </p:nvSpPr>
        <p:spPr>
          <a:xfrm>
            <a:off x="8321040" y="292608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28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E7288"/>
                </a:solidFill>
                <a:latin typeface="Calibri"/>
                <a:ea typeface="Calibri"/>
                <a:cs typeface="Calibri"/>
                <a:sym typeface="Calibri"/>
              </a:rPr>
              <a:t>LLM brain — fast inference via Groq API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5"/>
          <p:cNvSpPr/>
          <p:nvPr/>
        </p:nvSpPr>
        <p:spPr>
          <a:xfrm>
            <a:off x="548640" y="3657600"/>
            <a:ext cx="3611880" cy="1965960"/>
          </a:xfrm>
          <a:prstGeom prst="roundRect">
            <a:avLst>
              <a:gd fmla="val 4651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5"/>
          <p:cNvSpPr/>
          <p:nvPr/>
        </p:nvSpPr>
        <p:spPr>
          <a:xfrm>
            <a:off x="822960" y="3931920"/>
            <a:ext cx="640080" cy="640080"/>
          </a:xfrm>
          <a:prstGeom prst="ellipse">
            <a:avLst/>
          </a:prstGeom>
          <a:solidFill>
            <a:srgbClr val="FFC1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loud_white.png" id="328" name="Google Shape;32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9770" y="4008730"/>
            <a:ext cx="486461" cy="486461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5"/>
          <p:cNvSpPr/>
          <p:nvPr/>
        </p:nvSpPr>
        <p:spPr>
          <a:xfrm>
            <a:off x="822960" y="470916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OMDb API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5"/>
          <p:cNvSpPr/>
          <p:nvPr/>
        </p:nvSpPr>
        <p:spPr>
          <a:xfrm>
            <a:off x="822960" y="507492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28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E7288"/>
                </a:solidFill>
                <a:latin typeface="Calibri"/>
                <a:ea typeface="Calibri"/>
                <a:cs typeface="Calibri"/>
                <a:sym typeface="Calibri"/>
              </a:rPr>
              <a:t>External tool — live movie data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5"/>
          <p:cNvSpPr/>
          <p:nvPr/>
        </p:nvSpPr>
        <p:spPr>
          <a:xfrm>
            <a:off x="4297680" y="3657600"/>
            <a:ext cx="3611880" cy="1965960"/>
          </a:xfrm>
          <a:prstGeom prst="roundRect">
            <a:avLst>
              <a:gd fmla="val 4651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5"/>
          <p:cNvSpPr/>
          <p:nvPr/>
        </p:nvSpPr>
        <p:spPr>
          <a:xfrm>
            <a:off x="4572000" y="3931920"/>
            <a:ext cx="640080" cy="64008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ode_white.png" id="333" name="Google Shape;33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48810" y="4008730"/>
            <a:ext cx="486461" cy="486461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5"/>
          <p:cNvSpPr/>
          <p:nvPr/>
        </p:nvSpPr>
        <p:spPr>
          <a:xfrm>
            <a:off x="4572000" y="470916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Python Functions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5"/>
          <p:cNvSpPr/>
          <p:nvPr/>
        </p:nvSpPr>
        <p:spPr>
          <a:xfrm>
            <a:off x="4572000" y="507492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28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E7288"/>
                </a:solidFill>
                <a:latin typeface="Calibri"/>
                <a:ea typeface="Calibri"/>
                <a:cs typeface="Calibri"/>
                <a:sym typeface="Calibri"/>
              </a:rPr>
              <a:t>Custom tools for logic &amp; formatting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8046720" y="3657600"/>
            <a:ext cx="3611880" cy="1965960"/>
          </a:xfrm>
          <a:prstGeom prst="roundRect">
            <a:avLst>
              <a:gd fmla="val 4651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5"/>
          <p:cNvSpPr/>
          <p:nvPr/>
        </p:nvSpPr>
        <p:spPr>
          <a:xfrm>
            <a:off x="8321040" y="3931920"/>
            <a:ext cx="640080" cy="640080"/>
          </a:xfrm>
          <a:prstGeom prst="ellipse">
            <a:avLst/>
          </a:prstGeom>
          <a:solidFill>
            <a:srgbClr val="3FA7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bolt_white.png" id="338" name="Google Shape;33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97850" y="4008730"/>
            <a:ext cx="486461" cy="486461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5"/>
          <p:cNvSpPr/>
          <p:nvPr/>
        </p:nvSpPr>
        <p:spPr>
          <a:xfrm>
            <a:off x="8321040" y="470916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REST Integration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5"/>
          <p:cNvSpPr/>
          <p:nvPr/>
        </p:nvSpPr>
        <p:spPr>
          <a:xfrm>
            <a:off x="8321040" y="507492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28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E7288"/>
                </a:solidFill>
                <a:latin typeface="Calibri"/>
                <a:ea typeface="Calibri"/>
                <a:cs typeface="Calibri"/>
                <a:sym typeface="Calibri"/>
              </a:rPr>
              <a:t>Connects agent to real-world data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5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2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7288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F3B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6"/>
          <p:cNvSpPr/>
          <p:nvPr/>
        </p:nvSpPr>
        <p:spPr>
          <a:xfrm>
            <a:off x="8961120" y="2377440"/>
            <a:ext cx="5486400" cy="5486400"/>
          </a:xfrm>
          <a:prstGeom prst="ellipse">
            <a:avLst/>
          </a:prstGeom>
          <a:solidFill>
            <a:srgbClr val="252B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6"/>
          <p:cNvSpPr/>
          <p:nvPr/>
        </p:nvSpPr>
        <p:spPr>
          <a:xfrm>
            <a:off x="822960" y="22860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PART 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6"/>
          <p:cNvSpPr/>
          <p:nvPr/>
        </p:nvSpPr>
        <p:spPr>
          <a:xfrm>
            <a:off x="777240" y="2697480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MovieMind Flow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6"/>
          <p:cNvSpPr/>
          <p:nvPr/>
        </p:nvSpPr>
        <p:spPr>
          <a:xfrm>
            <a:off x="822960" y="370332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AE0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C7CAE0"/>
                </a:solidFill>
                <a:latin typeface="Calibri"/>
                <a:ea typeface="Calibri"/>
                <a:cs typeface="Calibri"/>
                <a:sym typeface="Calibri"/>
              </a:rPr>
              <a:t>From your question to a natural-language answer, step by step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7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PROJECT FLOW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7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Movie Question Answering Flow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8" name="Google Shape;358;p17"/>
          <p:cNvCxnSpPr/>
          <p:nvPr/>
        </p:nvCxnSpPr>
        <p:spPr>
          <a:xfrm>
            <a:off x="1120140" y="1943100"/>
            <a:ext cx="8997696" cy="0"/>
          </a:xfrm>
          <a:prstGeom prst="straightConnector1">
            <a:avLst/>
          </a:prstGeom>
          <a:noFill/>
          <a:ln cap="flat" cmpd="sng" w="38100">
            <a:solidFill>
              <a:srgbClr val="D8DAE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59" name="Google Shape;359;p17"/>
          <p:cNvSpPr/>
          <p:nvPr/>
        </p:nvSpPr>
        <p:spPr>
          <a:xfrm>
            <a:off x="777240" y="1600200"/>
            <a:ext cx="777240" cy="777240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omments_white.png" id="360" name="Google Shape;36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0509" y="1693469"/>
            <a:ext cx="590702" cy="590702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7"/>
          <p:cNvSpPr/>
          <p:nvPr/>
        </p:nvSpPr>
        <p:spPr>
          <a:xfrm>
            <a:off x="1298448" y="1399032"/>
            <a:ext cx="365760" cy="365760"/>
          </a:xfrm>
          <a:prstGeom prst="ellipse">
            <a:avLst/>
          </a:prstGeom>
          <a:solidFill>
            <a:srgbClr val="1B1F3B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7"/>
          <p:cNvSpPr/>
          <p:nvPr/>
        </p:nvSpPr>
        <p:spPr>
          <a:xfrm>
            <a:off x="1298448" y="139903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7"/>
          <p:cNvSpPr/>
          <p:nvPr/>
        </p:nvSpPr>
        <p:spPr>
          <a:xfrm>
            <a:off x="685800" y="2606040"/>
            <a:ext cx="2139696" cy="2651760"/>
          </a:xfrm>
          <a:prstGeom prst="roundRect">
            <a:avLst>
              <a:gd fmla="val 3419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7"/>
          <p:cNvSpPr/>
          <p:nvPr/>
        </p:nvSpPr>
        <p:spPr>
          <a:xfrm>
            <a:off x="850392" y="2743200"/>
            <a:ext cx="181051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User Asks a Question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7"/>
          <p:cNvSpPr/>
          <p:nvPr/>
        </p:nvSpPr>
        <p:spPr>
          <a:xfrm>
            <a:off x="850392" y="3611880"/>
            <a:ext cx="1810512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288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6E7288"/>
                </a:solidFill>
                <a:latin typeface="Calibri"/>
                <a:ea typeface="Calibri"/>
                <a:cs typeface="Calibri"/>
                <a:sym typeface="Calibri"/>
              </a:rPr>
              <a:t>Streamlit captures the input, e.g. “Is Interstellar worth watching?”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7"/>
          <p:cNvSpPr/>
          <p:nvPr/>
        </p:nvSpPr>
        <p:spPr>
          <a:xfrm>
            <a:off x="3026664" y="1600200"/>
            <a:ext cx="777240" cy="777240"/>
          </a:xfrm>
          <a:prstGeom prst="ellipse">
            <a:avLst/>
          </a:prstGeom>
          <a:solidFill>
            <a:srgbClr val="3FA7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brain_white.png" id="367" name="Google Shape;36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9933" y="1693469"/>
            <a:ext cx="590702" cy="590702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7"/>
          <p:cNvSpPr/>
          <p:nvPr/>
        </p:nvSpPr>
        <p:spPr>
          <a:xfrm>
            <a:off x="3547872" y="1399032"/>
            <a:ext cx="365760" cy="365760"/>
          </a:xfrm>
          <a:prstGeom prst="ellipse">
            <a:avLst/>
          </a:prstGeom>
          <a:solidFill>
            <a:srgbClr val="1B1F3B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7"/>
          <p:cNvSpPr/>
          <p:nvPr/>
        </p:nvSpPr>
        <p:spPr>
          <a:xfrm>
            <a:off x="3547872" y="139903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7"/>
          <p:cNvSpPr/>
          <p:nvPr/>
        </p:nvSpPr>
        <p:spPr>
          <a:xfrm>
            <a:off x="2935224" y="2606040"/>
            <a:ext cx="2139696" cy="2651760"/>
          </a:xfrm>
          <a:prstGeom prst="roundRect">
            <a:avLst>
              <a:gd fmla="val 3419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7"/>
          <p:cNvSpPr/>
          <p:nvPr/>
        </p:nvSpPr>
        <p:spPr>
          <a:xfrm>
            <a:off x="3099816" y="2743200"/>
            <a:ext cx="181051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LangChain Agent Understands Intent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7"/>
          <p:cNvSpPr/>
          <p:nvPr/>
        </p:nvSpPr>
        <p:spPr>
          <a:xfrm>
            <a:off x="3099816" y="3611880"/>
            <a:ext cx="1810512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288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6E7288"/>
                </a:solidFill>
                <a:latin typeface="Calibri"/>
                <a:ea typeface="Calibri"/>
                <a:cs typeface="Calibri"/>
                <a:sym typeface="Calibri"/>
              </a:rPr>
              <a:t>The question goes to a LangChain Agent, powered by GPT-OSS-120B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7"/>
          <p:cNvSpPr/>
          <p:nvPr/>
        </p:nvSpPr>
        <p:spPr>
          <a:xfrm>
            <a:off x="5276088" y="1600200"/>
            <a:ext cx="777240" cy="777240"/>
          </a:xfrm>
          <a:prstGeom prst="ellipse">
            <a:avLst/>
          </a:prstGeom>
          <a:solidFill>
            <a:srgbClr val="FFC1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ogs_white.png" id="374" name="Google Shape;37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69357" y="1693469"/>
            <a:ext cx="590702" cy="590702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17"/>
          <p:cNvSpPr/>
          <p:nvPr/>
        </p:nvSpPr>
        <p:spPr>
          <a:xfrm>
            <a:off x="5797296" y="1399032"/>
            <a:ext cx="365760" cy="365760"/>
          </a:xfrm>
          <a:prstGeom prst="ellipse">
            <a:avLst/>
          </a:prstGeom>
          <a:solidFill>
            <a:srgbClr val="1B1F3B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7"/>
          <p:cNvSpPr/>
          <p:nvPr/>
        </p:nvSpPr>
        <p:spPr>
          <a:xfrm>
            <a:off x="5797296" y="139903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7"/>
          <p:cNvSpPr/>
          <p:nvPr/>
        </p:nvSpPr>
        <p:spPr>
          <a:xfrm>
            <a:off x="5184648" y="2606040"/>
            <a:ext cx="2139696" cy="2651760"/>
          </a:xfrm>
          <a:prstGeom prst="roundRect">
            <a:avLst>
              <a:gd fmla="val 3419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7"/>
          <p:cNvSpPr/>
          <p:nvPr/>
        </p:nvSpPr>
        <p:spPr>
          <a:xfrm>
            <a:off x="5349240" y="2743200"/>
            <a:ext cx="181051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Agent Decides &amp; Selects a Tool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7"/>
          <p:cNvSpPr/>
          <p:nvPr/>
        </p:nvSpPr>
        <p:spPr>
          <a:xfrm>
            <a:off x="5349240" y="3611880"/>
            <a:ext cx="1810512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288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6E7288"/>
                </a:solidFill>
                <a:latin typeface="Calibri"/>
                <a:ea typeface="Calibri"/>
                <a:cs typeface="Calibri"/>
                <a:sym typeface="Calibri"/>
              </a:rPr>
              <a:t>It figures out if a tool is needed and which one fits the request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7"/>
          <p:cNvSpPr/>
          <p:nvPr/>
        </p:nvSpPr>
        <p:spPr>
          <a:xfrm>
            <a:off x="7525512" y="1600200"/>
            <a:ext cx="777240" cy="7772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loud_white.png" id="381" name="Google Shape;38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18781" y="1693469"/>
            <a:ext cx="590702" cy="590702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17"/>
          <p:cNvSpPr/>
          <p:nvPr/>
        </p:nvSpPr>
        <p:spPr>
          <a:xfrm>
            <a:off x="8046720" y="1399032"/>
            <a:ext cx="365760" cy="365760"/>
          </a:xfrm>
          <a:prstGeom prst="ellipse">
            <a:avLst/>
          </a:prstGeom>
          <a:solidFill>
            <a:srgbClr val="1B1F3B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7"/>
          <p:cNvSpPr/>
          <p:nvPr/>
        </p:nvSpPr>
        <p:spPr>
          <a:xfrm>
            <a:off x="8046720" y="139903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7"/>
          <p:cNvSpPr/>
          <p:nvPr/>
        </p:nvSpPr>
        <p:spPr>
          <a:xfrm>
            <a:off x="7434072" y="2606040"/>
            <a:ext cx="2139696" cy="2651760"/>
          </a:xfrm>
          <a:prstGeom prst="roundRect">
            <a:avLst>
              <a:gd fmla="val 3419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7"/>
          <p:cNvSpPr/>
          <p:nvPr/>
        </p:nvSpPr>
        <p:spPr>
          <a:xfrm>
            <a:off x="7598664" y="2743200"/>
            <a:ext cx="181051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Tool Executes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7"/>
          <p:cNvSpPr/>
          <p:nvPr/>
        </p:nvSpPr>
        <p:spPr>
          <a:xfrm>
            <a:off x="7598664" y="3611880"/>
            <a:ext cx="1810512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288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6E7288"/>
                </a:solidFill>
                <a:latin typeface="Calibri"/>
                <a:ea typeface="Calibri"/>
                <a:cs typeface="Calibri"/>
                <a:sym typeface="Calibri"/>
              </a:rPr>
              <a:t>Calls the OMDb API or a Python function to fetch real data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7"/>
          <p:cNvSpPr/>
          <p:nvPr/>
        </p:nvSpPr>
        <p:spPr>
          <a:xfrm>
            <a:off x="9774936" y="1600200"/>
            <a:ext cx="777240" cy="77724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heck_white.png" id="388" name="Google Shape;38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68205" y="1693469"/>
            <a:ext cx="590702" cy="590702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17"/>
          <p:cNvSpPr/>
          <p:nvPr/>
        </p:nvSpPr>
        <p:spPr>
          <a:xfrm>
            <a:off x="10296144" y="1399032"/>
            <a:ext cx="365760" cy="365760"/>
          </a:xfrm>
          <a:prstGeom prst="ellipse">
            <a:avLst/>
          </a:prstGeom>
          <a:solidFill>
            <a:srgbClr val="1B1F3B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7"/>
          <p:cNvSpPr/>
          <p:nvPr/>
        </p:nvSpPr>
        <p:spPr>
          <a:xfrm>
            <a:off x="10296144" y="139903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7"/>
          <p:cNvSpPr/>
          <p:nvPr/>
        </p:nvSpPr>
        <p:spPr>
          <a:xfrm>
            <a:off x="9683496" y="2606040"/>
            <a:ext cx="2139696" cy="2651760"/>
          </a:xfrm>
          <a:prstGeom prst="roundRect">
            <a:avLst>
              <a:gd fmla="val 3419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7"/>
          <p:cNvSpPr/>
          <p:nvPr/>
        </p:nvSpPr>
        <p:spPr>
          <a:xfrm>
            <a:off x="9848088" y="2743200"/>
            <a:ext cx="181051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Response Generated &amp; Displayed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7"/>
          <p:cNvSpPr/>
          <p:nvPr/>
        </p:nvSpPr>
        <p:spPr>
          <a:xfrm>
            <a:off x="9848088" y="3611880"/>
            <a:ext cx="1810512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288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6E7288"/>
                </a:solidFill>
                <a:latin typeface="Calibri"/>
                <a:ea typeface="Calibri"/>
                <a:cs typeface="Calibri"/>
                <a:sym typeface="Calibri"/>
              </a:rPr>
              <a:t>Agent interprets the result into natural language; Streamlit shows it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7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2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7288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8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BY THE END OF THIS SESSION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8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What You'll Be Able To Do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8"/>
          <p:cNvSpPr/>
          <p:nvPr/>
        </p:nvSpPr>
        <p:spPr>
          <a:xfrm>
            <a:off x="548640" y="1554480"/>
            <a:ext cx="5349240" cy="2148840"/>
          </a:xfrm>
          <a:prstGeom prst="roundRect">
            <a:avLst>
              <a:gd fmla="val 5106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8"/>
          <p:cNvSpPr/>
          <p:nvPr/>
        </p:nvSpPr>
        <p:spPr>
          <a:xfrm>
            <a:off x="868680" y="1874520"/>
            <a:ext cx="777240" cy="777240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route_white.png" id="404" name="Google Shape;40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1949" y="1967789"/>
            <a:ext cx="590702" cy="590702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18"/>
          <p:cNvSpPr/>
          <p:nvPr/>
        </p:nvSpPr>
        <p:spPr>
          <a:xfrm>
            <a:off x="1828800" y="1874520"/>
            <a:ext cx="3794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Explain the AI Maturity Curve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8"/>
          <p:cNvSpPr/>
          <p:nvPr/>
        </p:nvSpPr>
        <p:spPr>
          <a:xfrm>
            <a:off x="1828800" y="2514600"/>
            <a:ext cx="3794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2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7288"/>
                </a:solidFill>
                <a:latin typeface="Calibri"/>
                <a:ea typeface="Calibri"/>
                <a:cs typeface="Calibri"/>
                <a:sym typeface="Calibri"/>
              </a:rPr>
              <a:t>Confidently describe how Gen AI evolves into Agentic AI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8"/>
          <p:cNvSpPr/>
          <p:nvPr/>
        </p:nvSpPr>
        <p:spPr>
          <a:xfrm>
            <a:off x="6263640" y="1554480"/>
            <a:ext cx="5349240" cy="2148840"/>
          </a:xfrm>
          <a:prstGeom prst="roundRect">
            <a:avLst>
              <a:gd fmla="val 5106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8"/>
          <p:cNvSpPr/>
          <p:nvPr/>
        </p:nvSpPr>
        <p:spPr>
          <a:xfrm>
            <a:off x="6583680" y="1874520"/>
            <a:ext cx="777240" cy="777240"/>
          </a:xfrm>
          <a:prstGeom prst="ellipse">
            <a:avLst/>
          </a:prstGeom>
          <a:solidFill>
            <a:srgbClr val="3FA7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link_white.png" id="409" name="Google Shape;40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76949" y="1967789"/>
            <a:ext cx="590702" cy="590702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18"/>
          <p:cNvSpPr/>
          <p:nvPr/>
        </p:nvSpPr>
        <p:spPr>
          <a:xfrm>
            <a:off x="7543800" y="1874520"/>
            <a:ext cx="3794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Build a LangChain Agent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8"/>
          <p:cNvSpPr/>
          <p:nvPr/>
        </p:nvSpPr>
        <p:spPr>
          <a:xfrm>
            <a:off x="7543800" y="2514600"/>
            <a:ext cx="3794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2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7288"/>
                </a:solidFill>
                <a:latin typeface="Calibri"/>
                <a:ea typeface="Calibri"/>
                <a:cs typeface="Calibri"/>
                <a:sym typeface="Calibri"/>
              </a:rPr>
              <a:t>Wire an LLM to reason and choose between tools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8"/>
          <p:cNvSpPr/>
          <p:nvPr/>
        </p:nvSpPr>
        <p:spPr>
          <a:xfrm>
            <a:off x="548640" y="4023360"/>
            <a:ext cx="5349240" cy="2148840"/>
          </a:xfrm>
          <a:prstGeom prst="roundRect">
            <a:avLst>
              <a:gd fmla="val 5106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8"/>
          <p:cNvSpPr/>
          <p:nvPr/>
        </p:nvSpPr>
        <p:spPr>
          <a:xfrm>
            <a:off x="868680" y="4343400"/>
            <a:ext cx="777240" cy="7772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loud_white.png" id="414" name="Google Shape;41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1949" y="4436669"/>
            <a:ext cx="590702" cy="590702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18"/>
          <p:cNvSpPr/>
          <p:nvPr/>
        </p:nvSpPr>
        <p:spPr>
          <a:xfrm>
            <a:off x="1828800" y="4343400"/>
            <a:ext cx="3794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Integrate a Real API Tool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8"/>
          <p:cNvSpPr/>
          <p:nvPr/>
        </p:nvSpPr>
        <p:spPr>
          <a:xfrm>
            <a:off x="1828800" y="4983480"/>
            <a:ext cx="3794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2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7288"/>
                </a:solidFill>
                <a:latin typeface="Calibri"/>
                <a:ea typeface="Calibri"/>
                <a:cs typeface="Calibri"/>
                <a:sym typeface="Calibri"/>
              </a:rPr>
              <a:t>Connect the agent to OMDb for live movie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8"/>
          <p:cNvSpPr/>
          <p:nvPr/>
        </p:nvSpPr>
        <p:spPr>
          <a:xfrm>
            <a:off x="6263640" y="4023360"/>
            <a:ext cx="5349240" cy="2148840"/>
          </a:xfrm>
          <a:prstGeom prst="roundRect">
            <a:avLst>
              <a:gd fmla="val 5106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8"/>
          <p:cNvSpPr/>
          <p:nvPr/>
        </p:nvSpPr>
        <p:spPr>
          <a:xfrm>
            <a:off x="6583680" y="4343400"/>
            <a:ext cx="777240" cy="777240"/>
          </a:xfrm>
          <a:prstGeom prst="ellipse">
            <a:avLst/>
          </a:prstGeom>
          <a:solidFill>
            <a:srgbClr val="FFC1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play_white.png" id="419" name="Google Shape;41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6949" y="4436669"/>
            <a:ext cx="590702" cy="590702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18"/>
          <p:cNvSpPr/>
          <p:nvPr/>
        </p:nvSpPr>
        <p:spPr>
          <a:xfrm>
            <a:off x="7543800" y="4343400"/>
            <a:ext cx="3794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Ship a Streamlit Chat App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8"/>
          <p:cNvSpPr/>
          <p:nvPr/>
        </p:nvSpPr>
        <p:spPr>
          <a:xfrm>
            <a:off x="7543800" y="4983480"/>
            <a:ext cx="3794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2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7288"/>
                </a:solidFill>
                <a:latin typeface="Calibri"/>
                <a:ea typeface="Calibri"/>
                <a:cs typeface="Calibri"/>
                <a:sym typeface="Calibri"/>
              </a:rPr>
              <a:t>Put it all together into MovieMind, a working assistant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8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2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7288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F3B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9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252B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9"/>
          <p:cNvSpPr/>
          <p:nvPr/>
        </p:nvSpPr>
        <p:spPr>
          <a:xfrm>
            <a:off x="9692640" y="4114800"/>
            <a:ext cx="4572000" cy="4572000"/>
          </a:xfrm>
          <a:prstGeom prst="ellipse">
            <a:avLst/>
          </a:prstGeom>
          <a:solidFill>
            <a:srgbClr val="252B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9"/>
          <p:cNvSpPr/>
          <p:nvPr/>
        </p:nvSpPr>
        <p:spPr>
          <a:xfrm>
            <a:off x="5257800" y="1051560"/>
            <a:ext cx="1371600" cy="13716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robot_white.png" id="431" name="Google Shape;43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2392" y="1216152"/>
            <a:ext cx="1042416" cy="1042416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19"/>
          <p:cNvSpPr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Let's Build MovieMind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9"/>
          <p:cNvSpPr/>
          <p:nvPr/>
        </p:nvSpPr>
        <p:spPr>
          <a:xfrm>
            <a:off x="822960" y="361188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14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C145"/>
                </a:solidFill>
                <a:latin typeface="Calibri"/>
                <a:ea typeface="Calibri"/>
                <a:cs typeface="Calibri"/>
                <a:sym typeface="Calibri"/>
              </a:rPr>
              <a:t>Generative AI  →  Fine-tuning  →  RAG  →  AI Agents  →  Agentic AI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9"/>
          <p:cNvSpPr/>
          <p:nvPr/>
        </p:nvSpPr>
        <p:spPr>
          <a:xfrm>
            <a:off x="1737360" y="429768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CAE0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C7CAE0"/>
                </a:solidFill>
                <a:latin typeface="Calibri"/>
                <a:ea typeface="Calibri"/>
                <a:cs typeface="Calibri"/>
                <a:sym typeface="Calibri"/>
              </a:rPr>
              <a:t>Open your editor — next up, we wire a LangChain Agent to GPT-OSS-120B and give it its first tool.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9"/>
          <p:cNvSpPr/>
          <p:nvPr/>
        </p:nvSpPr>
        <p:spPr>
          <a:xfrm>
            <a:off x="1737360" y="5852160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0B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0B5"/>
                </a:solidFill>
                <a:latin typeface="Calibri"/>
                <a:ea typeface="Calibri"/>
                <a:cs typeface="Calibri"/>
                <a:sym typeface="Calibri"/>
              </a:rPr>
              <a:t>Questions welcome anytime.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